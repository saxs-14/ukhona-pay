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773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#5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8AE710C-54AB-4E16-8BAA-7E790AC4F068}" type="doc">
      <dgm:prSet loTypeId="urn:microsoft.com/office/officeart/2016/7/layout/RepeatingBendingProcessNew" loCatId="process" qsTypeId="urn:microsoft.com/office/officeart/2005/8/quickstyle/simple1#52" qsCatId="simple" csTypeId="urn:microsoft.com/office/officeart/2005/8/colors/colorful2#5" csCatId="colorful"/>
      <dgm:spPr/>
      <dgm:t>
        <a:bodyPr/>
        <a:lstStyle/>
        <a:p>
          <a:endParaRPr lang="en-US"/>
        </a:p>
      </dgm:t>
    </dgm:pt>
    <dgm:pt modelId="{33B40A42-CF28-4549-A63A-370D53BA7B7D}">
      <dgm:prSet/>
      <dgm:spPr/>
      <dgm:t>
        <a:bodyPr/>
        <a:lstStyle/>
        <a:p>
          <a:r>
            <a:rPr lang="en-US"/>
            <a:t>Development: R130 000 – R300 000</a:t>
          </a:r>
        </a:p>
      </dgm:t>
    </dgm:pt>
    <dgm:pt modelId="{36341896-E72C-409E-88B5-D5E94D34BA53}" type="parTrans" cxnId="{07A8093A-968D-4203-A6F2-BD0BD43765DE}">
      <dgm:prSet/>
      <dgm:spPr/>
      <dgm:t>
        <a:bodyPr/>
        <a:lstStyle/>
        <a:p>
          <a:endParaRPr lang="en-US"/>
        </a:p>
      </dgm:t>
    </dgm:pt>
    <dgm:pt modelId="{B3239F4E-3551-44E5-B398-63A25A697C21}" type="sibTrans" cxnId="{07A8093A-968D-4203-A6F2-BD0BD43765DE}">
      <dgm:prSet/>
      <dgm:spPr/>
      <dgm:t>
        <a:bodyPr/>
        <a:lstStyle/>
        <a:p>
          <a:endParaRPr lang="en-US"/>
        </a:p>
      </dgm:t>
    </dgm:pt>
    <dgm:pt modelId="{68233191-2953-4933-997A-D744B77EC9FE}">
      <dgm:prSet/>
      <dgm:spPr/>
      <dgm:t>
        <a:bodyPr/>
        <a:lstStyle/>
        <a:p>
          <a:r>
            <a:rPr lang="en-US"/>
            <a:t>Hosting on Azure: R5 000/Month</a:t>
          </a:r>
        </a:p>
      </dgm:t>
    </dgm:pt>
    <dgm:pt modelId="{B1447111-0EA5-4785-880F-C4E42D660978}" type="parTrans" cxnId="{9CF62D06-84FC-4F46-BAE1-AE92F1D001D0}">
      <dgm:prSet/>
      <dgm:spPr/>
      <dgm:t>
        <a:bodyPr/>
        <a:lstStyle/>
        <a:p>
          <a:endParaRPr lang="en-US"/>
        </a:p>
      </dgm:t>
    </dgm:pt>
    <dgm:pt modelId="{7D2A25BE-DC1D-456E-9BA1-EE1749A52632}" type="sibTrans" cxnId="{9CF62D06-84FC-4F46-BAE1-AE92F1D001D0}">
      <dgm:prSet/>
      <dgm:spPr/>
      <dgm:t>
        <a:bodyPr/>
        <a:lstStyle/>
        <a:p>
          <a:endParaRPr lang="en-US"/>
        </a:p>
      </dgm:t>
    </dgm:pt>
    <dgm:pt modelId="{6F12ED13-DA57-4EDE-BD7B-490C9A494DD4}">
      <dgm:prSet/>
      <dgm:spPr/>
      <dgm:t>
        <a:bodyPr/>
        <a:lstStyle/>
        <a:p>
          <a:r>
            <a:rPr lang="en-US"/>
            <a:t>Marketing via Google Ads: R7 000/Month</a:t>
          </a:r>
        </a:p>
      </dgm:t>
    </dgm:pt>
    <dgm:pt modelId="{1BB7843B-1964-465B-B26F-70426CC92A23}" type="parTrans" cxnId="{F4BA5269-794D-482E-9DEB-1AA74824ADF9}">
      <dgm:prSet/>
      <dgm:spPr/>
      <dgm:t>
        <a:bodyPr/>
        <a:lstStyle/>
        <a:p>
          <a:endParaRPr lang="en-US"/>
        </a:p>
      </dgm:t>
    </dgm:pt>
    <dgm:pt modelId="{493A4D31-5CF3-434F-85CC-18048755E318}" type="sibTrans" cxnId="{F4BA5269-794D-482E-9DEB-1AA74824ADF9}">
      <dgm:prSet/>
      <dgm:spPr/>
      <dgm:t>
        <a:bodyPr/>
        <a:lstStyle/>
        <a:p>
          <a:endParaRPr lang="en-US"/>
        </a:p>
      </dgm:t>
    </dgm:pt>
    <dgm:pt modelId="{80DCC692-F249-46C5-A5E3-4693BF3C147F}">
      <dgm:prSet/>
      <dgm:spPr/>
      <dgm:t>
        <a:bodyPr/>
        <a:lstStyle/>
        <a:p>
          <a:r>
            <a:rPr lang="en-US"/>
            <a:t>Transactions: R1 per transaction</a:t>
          </a:r>
        </a:p>
      </dgm:t>
    </dgm:pt>
    <dgm:pt modelId="{2B53560D-E8EF-41C3-B452-1D6A72649829}" type="parTrans" cxnId="{7665D596-A25B-4C8D-9213-EF06CB4D1660}">
      <dgm:prSet/>
      <dgm:spPr/>
      <dgm:t>
        <a:bodyPr/>
        <a:lstStyle/>
        <a:p>
          <a:endParaRPr lang="en-US"/>
        </a:p>
      </dgm:t>
    </dgm:pt>
    <dgm:pt modelId="{579A42D7-60DA-412C-9586-EAED0EBF5C47}" type="sibTrans" cxnId="{7665D596-A25B-4C8D-9213-EF06CB4D1660}">
      <dgm:prSet/>
      <dgm:spPr/>
      <dgm:t>
        <a:bodyPr/>
        <a:lstStyle/>
        <a:p>
          <a:endParaRPr lang="en-US"/>
        </a:p>
      </dgm:t>
    </dgm:pt>
    <dgm:pt modelId="{43A47778-5343-4259-97CB-20C1E5E451A6}">
      <dgm:prSet/>
      <dgm:spPr/>
      <dgm:t>
        <a:bodyPr/>
        <a:lstStyle/>
        <a:p>
          <a:r>
            <a:rPr lang="en-US"/>
            <a:t>Developer Support Plan: R4 000/Month</a:t>
          </a:r>
        </a:p>
      </dgm:t>
    </dgm:pt>
    <dgm:pt modelId="{17E769E2-B565-4935-8B0D-ED9ACB0B93F4}" type="parTrans" cxnId="{948C4E36-1919-4641-8C73-EB5FE0642BD2}">
      <dgm:prSet/>
      <dgm:spPr/>
      <dgm:t>
        <a:bodyPr/>
        <a:lstStyle/>
        <a:p>
          <a:endParaRPr lang="en-US"/>
        </a:p>
      </dgm:t>
    </dgm:pt>
    <dgm:pt modelId="{ABA53F55-122A-4772-907C-AE397B8D974E}" type="sibTrans" cxnId="{948C4E36-1919-4641-8C73-EB5FE0642BD2}">
      <dgm:prSet/>
      <dgm:spPr/>
      <dgm:t>
        <a:bodyPr/>
        <a:lstStyle/>
        <a:p>
          <a:endParaRPr lang="en-US"/>
        </a:p>
      </dgm:t>
    </dgm:pt>
    <dgm:pt modelId="{673361DC-744E-478C-9D75-547F043F89BA}" type="pres">
      <dgm:prSet presAssocID="{E8AE710C-54AB-4E16-8BAA-7E790AC4F068}" presName="Name0" presStyleCnt="0">
        <dgm:presLayoutVars>
          <dgm:dir/>
          <dgm:resizeHandles val="exact"/>
        </dgm:presLayoutVars>
      </dgm:prSet>
      <dgm:spPr/>
    </dgm:pt>
    <dgm:pt modelId="{20CE290A-6A5E-4A00-BC20-D76BF83103B2}" type="pres">
      <dgm:prSet presAssocID="{33B40A42-CF28-4549-A63A-370D53BA7B7D}" presName="node" presStyleLbl="node1" presStyleIdx="0" presStyleCnt="5">
        <dgm:presLayoutVars>
          <dgm:bulletEnabled val="1"/>
        </dgm:presLayoutVars>
      </dgm:prSet>
      <dgm:spPr/>
    </dgm:pt>
    <dgm:pt modelId="{C743591C-BDA6-4704-B5F4-5C95B8A5D44C}" type="pres">
      <dgm:prSet presAssocID="{B3239F4E-3551-44E5-B398-63A25A697C21}" presName="sibTrans" presStyleLbl="sibTrans1D1" presStyleIdx="0" presStyleCnt="4"/>
      <dgm:spPr/>
    </dgm:pt>
    <dgm:pt modelId="{A7F11A14-44B2-40CB-9823-28B42218D4E6}" type="pres">
      <dgm:prSet presAssocID="{B3239F4E-3551-44E5-B398-63A25A697C21}" presName="connectorText" presStyleLbl="sibTrans1D1" presStyleIdx="0" presStyleCnt="4"/>
      <dgm:spPr/>
    </dgm:pt>
    <dgm:pt modelId="{509DC0CF-BD84-4A27-8345-FA7280E434D6}" type="pres">
      <dgm:prSet presAssocID="{68233191-2953-4933-997A-D744B77EC9FE}" presName="node" presStyleLbl="node1" presStyleIdx="1" presStyleCnt="5">
        <dgm:presLayoutVars>
          <dgm:bulletEnabled val="1"/>
        </dgm:presLayoutVars>
      </dgm:prSet>
      <dgm:spPr/>
    </dgm:pt>
    <dgm:pt modelId="{E1CCF44E-F70A-42C4-81E9-B97714D8C45A}" type="pres">
      <dgm:prSet presAssocID="{7D2A25BE-DC1D-456E-9BA1-EE1749A52632}" presName="sibTrans" presStyleLbl="sibTrans1D1" presStyleIdx="1" presStyleCnt="4"/>
      <dgm:spPr/>
    </dgm:pt>
    <dgm:pt modelId="{E384A67B-D8DB-4ED5-924B-A8A2B38081BB}" type="pres">
      <dgm:prSet presAssocID="{7D2A25BE-DC1D-456E-9BA1-EE1749A52632}" presName="connectorText" presStyleLbl="sibTrans1D1" presStyleIdx="1" presStyleCnt="4"/>
      <dgm:spPr/>
    </dgm:pt>
    <dgm:pt modelId="{180F348B-F151-4505-80EE-A09FA294A807}" type="pres">
      <dgm:prSet presAssocID="{6F12ED13-DA57-4EDE-BD7B-490C9A494DD4}" presName="node" presStyleLbl="node1" presStyleIdx="2" presStyleCnt="5">
        <dgm:presLayoutVars>
          <dgm:bulletEnabled val="1"/>
        </dgm:presLayoutVars>
      </dgm:prSet>
      <dgm:spPr/>
    </dgm:pt>
    <dgm:pt modelId="{B4792BA0-BCB9-4F89-806E-8CFD93DACF4A}" type="pres">
      <dgm:prSet presAssocID="{493A4D31-5CF3-434F-85CC-18048755E318}" presName="sibTrans" presStyleLbl="sibTrans1D1" presStyleIdx="2" presStyleCnt="4"/>
      <dgm:spPr/>
    </dgm:pt>
    <dgm:pt modelId="{20FA333D-F49D-4D5B-84FE-4F39D7D54D16}" type="pres">
      <dgm:prSet presAssocID="{493A4D31-5CF3-434F-85CC-18048755E318}" presName="connectorText" presStyleLbl="sibTrans1D1" presStyleIdx="2" presStyleCnt="4"/>
      <dgm:spPr/>
    </dgm:pt>
    <dgm:pt modelId="{18F524B0-96C6-4D9B-936B-A179726B3124}" type="pres">
      <dgm:prSet presAssocID="{80DCC692-F249-46C5-A5E3-4693BF3C147F}" presName="node" presStyleLbl="node1" presStyleIdx="3" presStyleCnt="5">
        <dgm:presLayoutVars>
          <dgm:bulletEnabled val="1"/>
        </dgm:presLayoutVars>
      </dgm:prSet>
      <dgm:spPr/>
    </dgm:pt>
    <dgm:pt modelId="{8C043D38-3CC8-4089-97E4-1E4FEDEAC1F1}" type="pres">
      <dgm:prSet presAssocID="{579A42D7-60DA-412C-9586-EAED0EBF5C47}" presName="sibTrans" presStyleLbl="sibTrans1D1" presStyleIdx="3" presStyleCnt="4"/>
      <dgm:spPr/>
    </dgm:pt>
    <dgm:pt modelId="{2C3AD2A2-ABD1-431B-BB5E-0F6F1F8506B6}" type="pres">
      <dgm:prSet presAssocID="{579A42D7-60DA-412C-9586-EAED0EBF5C47}" presName="connectorText" presStyleLbl="sibTrans1D1" presStyleIdx="3" presStyleCnt="4"/>
      <dgm:spPr/>
    </dgm:pt>
    <dgm:pt modelId="{3836649C-DE4E-4E10-BB8C-31708625188D}" type="pres">
      <dgm:prSet presAssocID="{43A47778-5343-4259-97CB-20C1E5E451A6}" presName="node" presStyleLbl="node1" presStyleIdx="4" presStyleCnt="5">
        <dgm:presLayoutVars>
          <dgm:bulletEnabled val="1"/>
        </dgm:presLayoutVars>
      </dgm:prSet>
      <dgm:spPr/>
    </dgm:pt>
  </dgm:ptLst>
  <dgm:cxnLst>
    <dgm:cxn modelId="{9CF62D06-84FC-4F46-BAE1-AE92F1D001D0}" srcId="{E8AE710C-54AB-4E16-8BAA-7E790AC4F068}" destId="{68233191-2953-4933-997A-D744B77EC9FE}" srcOrd="1" destOrd="0" parTransId="{B1447111-0EA5-4785-880F-C4E42D660978}" sibTransId="{7D2A25BE-DC1D-456E-9BA1-EE1749A52632}"/>
    <dgm:cxn modelId="{DE04A715-8D63-483B-ADD7-362ABF766CF6}" type="presOf" srcId="{493A4D31-5CF3-434F-85CC-18048755E318}" destId="{20FA333D-F49D-4D5B-84FE-4F39D7D54D16}" srcOrd="1" destOrd="0" presId="urn:microsoft.com/office/officeart/2016/7/layout/RepeatingBendingProcessNew"/>
    <dgm:cxn modelId="{C98E772B-B841-435C-ADE5-27F6AB9B2ECB}" type="presOf" srcId="{E8AE710C-54AB-4E16-8BAA-7E790AC4F068}" destId="{673361DC-744E-478C-9D75-547F043F89BA}" srcOrd="0" destOrd="0" presId="urn:microsoft.com/office/officeart/2016/7/layout/RepeatingBendingProcessNew"/>
    <dgm:cxn modelId="{948C4E36-1919-4641-8C73-EB5FE0642BD2}" srcId="{E8AE710C-54AB-4E16-8BAA-7E790AC4F068}" destId="{43A47778-5343-4259-97CB-20C1E5E451A6}" srcOrd="4" destOrd="0" parTransId="{17E769E2-B565-4935-8B0D-ED9ACB0B93F4}" sibTransId="{ABA53F55-122A-4772-907C-AE397B8D974E}"/>
    <dgm:cxn modelId="{07A8093A-968D-4203-A6F2-BD0BD43765DE}" srcId="{E8AE710C-54AB-4E16-8BAA-7E790AC4F068}" destId="{33B40A42-CF28-4549-A63A-370D53BA7B7D}" srcOrd="0" destOrd="0" parTransId="{36341896-E72C-409E-88B5-D5E94D34BA53}" sibTransId="{B3239F4E-3551-44E5-B398-63A25A697C21}"/>
    <dgm:cxn modelId="{D3BB945C-C6BF-4B9F-9002-0D28308FD53D}" type="presOf" srcId="{579A42D7-60DA-412C-9586-EAED0EBF5C47}" destId="{8C043D38-3CC8-4089-97E4-1E4FEDEAC1F1}" srcOrd="0" destOrd="0" presId="urn:microsoft.com/office/officeart/2016/7/layout/RepeatingBendingProcessNew"/>
    <dgm:cxn modelId="{D597C966-7A0B-46D0-B061-1410CA35B5CF}" type="presOf" srcId="{6F12ED13-DA57-4EDE-BD7B-490C9A494DD4}" destId="{180F348B-F151-4505-80EE-A09FA294A807}" srcOrd="0" destOrd="0" presId="urn:microsoft.com/office/officeart/2016/7/layout/RepeatingBendingProcessNew"/>
    <dgm:cxn modelId="{66AC3A49-411B-4BE5-8F7D-B6F69D62BFF9}" type="presOf" srcId="{68233191-2953-4933-997A-D744B77EC9FE}" destId="{509DC0CF-BD84-4A27-8345-FA7280E434D6}" srcOrd="0" destOrd="0" presId="urn:microsoft.com/office/officeart/2016/7/layout/RepeatingBendingProcessNew"/>
    <dgm:cxn modelId="{F4BA5269-794D-482E-9DEB-1AA74824ADF9}" srcId="{E8AE710C-54AB-4E16-8BAA-7E790AC4F068}" destId="{6F12ED13-DA57-4EDE-BD7B-490C9A494DD4}" srcOrd="2" destOrd="0" parTransId="{1BB7843B-1964-465B-B26F-70426CC92A23}" sibTransId="{493A4D31-5CF3-434F-85CC-18048755E318}"/>
    <dgm:cxn modelId="{A6426F50-C5DC-41B2-A734-4F9489B6649B}" type="presOf" srcId="{43A47778-5343-4259-97CB-20C1E5E451A6}" destId="{3836649C-DE4E-4E10-BB8C-31708625188D}" srcOrd="0" destOrd="0" presId="urn:microsoft.com/office/officeart/2016/7/layout/RepeatingBendingProcessNew"/>
    <dgm:cxn modelId="{86DA9B7F-46BF-4FD2-87F6-0E1E4E0A69E0}" type="presOf" srcId="{B3239F4E-3551-44E5-B398-63A25A697C21}" destId="{A7F11A14-44B2-40CB-9823-28B42218D4E6}" srcOrd="1" destOrd="0" presId="urn:microsoft.com/office/officeart/2016/7/layout/RepeatingBendingProcessNew"/>
    <dgm:cxn modelId="{8733748A-C22B-4085-9AAF-88A2726323D0}" type="presOf" srcId="{33B40A42-CF28-4549-A63A-370D53BA7B7D}" destId="{20CE290A-6A5E-4A00-BC20-D76BF83103B2}" srcOrd="0" destOrd="0" presId="urn:microsoft.com/office/officeart/2016/7/layout/RepeatingBendingProcessNew"/>
    <dgm:cxn modelId="{7665D596-A25B-4C8D-9213-EF06CB4D1660}" srcId="{E8AE710C-54AB-4E16-8BAA-7E790AC4F068}" destId="{80DCC692-F249-46C5-A5E3-4693BF3C147F}" srcOrd="3" destOrd="0" parTransId="{2B53560D-E8EF-41C3-B452-1D6A72649829}" sibTransId="{579A42D7-60DA-412C-9586-EAED0EBF5C47}"/>
    <dgm:cxn modelId="{60BF1BA1-AF22-4CF8-8D67-EACF167361F2}" type="presOf" srcId="{7D2A25BE-DC1D-456E-9BA1-EE1749A52632}" destId="{E384A67B-D8DB-4ED5-924B-A8A2B38081BB}" srcOrd="1" destOrd="0" presId="urn:microsoft.com/office/officeart/2016/7/layout/RepeatingBendingProcessNew"/>
    <dgm:cxn modelId="{83383CA4-CA5D-4290-B6C6-6FFA314946B2}" type="presOf" srcId="{B3239F4E-3551-44E5-B398-63A25A697C21}" destId="{C743591C-BDA6-4704-B5F4-5C95B8A5D44C}" srcOrd="0" destOrd="0" presId="urn:microsoft.com/office/officeart/2016/7/layout/RepeatingBendingProcessNew"/>
    <dgm:cxn modelId="{646D89E8-3573-45F1-88FD-BB1154CA7626}" type="presOf" srcId="{7D2A25BE-DC1D-456E-9BA1-EE1749A52632}" destId="{E1CCF44E-F70A-42C4-81E9-B97714D8C45A}" srcOrd="0" destOrd="0" presId="urn:microsoft.com/office/officeart/2016/7/layout/RepeatingBendingProcessNew"/>
    <dgm:cxn modelId="{02944EEB-9C3A-4FB2-84A8-735C24C1FFA7}" type="presOf" srcId="{493A4D31-5CF3-434F-85CC-18048755E318}" destId="{B4792BA0-BCB9-4F89-806E-8CFD93DACF4A}" srcOrd="0" destOrd="0" presId="urn:microsoft.com/office/officeart/2016/7/layout/RepeatingBendingProcessNew"/>
    <dgm:cxn modelId="{C09681EE-2EBF-4953-8F73-165276600608}" type="presOf" srcId="{579A42D7-60DA-412C-9586-EAED0EBF5C47}" destId="{2C3AD2A2-ABD1-431B-BB5E-0F6F1F8506B6}" srcOrd="1" destOrd="0" presId="urn:microsoft.com/office/officeart/2016/7/layout/RepeatingBendingProcessNew"/>
    <dgm:cxn modelId="{93A2A2F3-BC53-43A6-8AB9-9CF32DCD7031}" type="presOf" srcId="{80DCC692-F249-46C5-A5E3-4693BF3C147F}" destId="{18F524B0-96C6-4D9B-936B-A179726B3124}" srcOrd="0" destOrd="0" presId="urn:microsoft.com/office/officeart/2016/7/layout/RepeatingBendingProcessNew"/>
    <dgm:cxn modelId="{9178FDE8-507C-4E4F-9CE4-68AF95D8866E}" type="presParOf" srcId="{673361DC-744E-478C-9D75-547F043F89BA}" destId="{20CE290A-6A5E-4A00-BC20-D76BF83103B2}" srcOrd="0" destOrd="0" presId="urn:microsoft.com/office/officeart/2016/7/layout/RepeatingBendingProcessNew"/>
    <dgm:cxn modelId="{A49C689F-7703-4CAC-A34A-AC2E8E70545B}" type="presParOf" srcId="{673361DC-744E-478C-9D75-547F043F89BA}" destId="{C743591C-BDA6-4704-B5F4-5C95B8A5D44C}" srcOrd="1" destOrd="0" presId="urn:microsoft.com/office/officeart/2016/7/layout/RepeatingBendingProcessNew"/>
    <dgm:cxn modelId="{707AB383-498B-4B09-B3F4-CCC27C6F33AC}" type="presParOf" srcId="{C743591C-BDA6-4704-B5F4-5C95B8A5D44C}" destId="{A7F11A14-44B2-40CB-9823-28B42218D4E6}" srcOrd="0" destOrd="0" presId="urn:microsoft.com/office/officeart/2016/7/layout/RepeatingBendingProcessNew"/>
    <dgm:cxn modelId="{D855890B-27D5-4A44-A63F-47859376A237}" type="presParOf" srcId="{673361DC-744E-478C-9D75-547F043F89BA}" destId="{509DC0CF-BD84-4A27-8345-FA7280E434D6}" srcOrd="2" destOrd="0" presId="urn:microsoft.com/office/officeart/2016/7/layout/RepeatingBendingProcessNew"/>
    <dgm:cxn modelId="{34300B5A-6768-4C7E-BB72-0209D9297B7B}" type="presParOf" srcId="{673361DC-744E-478C-9D75-547F043F89BA}" destId="{E1CCF44E-F70A-42C4-81E9-B97714D8C45A}" srcOrd="3" destOrd="0" presId="urn:microsoft.com/office/officeart/2016/7/layout/RepeatingBendingProcessNew"/>
    <dgm:cxn modelId="{5D31F00A-C5AC-4DE7-A522-D1791481D47E}" type="presParOf" srcId="{E1CCF44E-F70A-42C4-81E9-B97714D8C45A}" destId="{E384A67B-D8DB-4ED5-924B-A8A2B38081BB}" srcOrd="0" destOrd="0" presId="urn:microsoft.com/office/officeart/2016/7/layout/RepeatingBendingProcessNew"/>
    <dgm:cxn modelId="{4A25DADD-4D4C-461A-9E6E-3E69D8240E34}" type="presParOf" srcId="{673361DC-744E-478C-9D75-547F043F89BA}" destId="{180F348B-F151-4505-80EE-A09FA294A807}" srcOrd="4" destOrd="0" presId="urn:microsoft.com/office/officeart/2016/7/layout/RepeatingBendingProcessNew"/>
    <dgm:cxn modelId="{51DC5790-70A4-4A21-9183-209A5DBE54B2}" type="presParOf" srcId="{673361DC-744E-478C-9D75-547F043F89BA}" destId="{B4792BA0-BCB9-4F89-806E-8CFD93DACF4A}" srcOrd="5" destOrd="0" presId="urn:microsoft.com/office/officeart/2016/7/layout/RepeatingBendingProcessNew"/>
    <dgm:cxn modelId="{B14D5D6B-1F5A-48C0-8395-287EA96DD6D1}" type="presParOf" srcId="{B4792BA0-BCB9-4F89-806E-8CFD93DACF4A}" destId="{20FA333D-F49D-4D5B-84FE-4F39D7D54D16}" srcOrd="0" destOrd="0" presId="urn:microsoft.com/office/officeart/2016/7/layout/RepeatingBendingProcessNew"/>
    <dgm:cxn modelId="{1D84EEF8-A557-469D-85C7-2682A58EFAF0}" type="presParOf" srcId="{673361DC-744E-478C-9D75-547F043F89BA}" destId="{18F524B0-96C6-4D9B-936B-A179726B3124}" srcOrd="6" destOrd="0" presId="urn:microsoft.com/office/officeart/2016/7/layout/RepeatingBendingProcessNew"/>
    <dgm:cxn modelId="{C44BF2D3-3852-41AF-B44F-3423FE150433}" type="presParOf" srcId="{673361DC-744E-478C-9D75-547F043F89BA}" destId="{8C043D38-3CC8-4089-97E4-1E4FEDEAC1F1}" srcOrd="7" destOrd="0" presId="urn:microsoft.com/office/officeart/2016/7/layout/RepeatingBendingProcessNew"/>
    <dgm:cxn modelId="{AD482CBC-E2A3-4409-91F3-67ECD7E436C0}" type="presParOf" srcId="{8C043D38-3CC8-4089-97E4-1E4FEDEAC1F1}" destId="{2C3AD2A2-ABD1-431B-BB5E-0F6F1F8506B6}" srcOrd="0" destOrd="0" presId="urn:microsoft.com/office/officeart/2016/7/layout/RepeatingBendingProcessNew"/>
    <dgm:cxn modelId="{10AC6604-17E5-473C-9231-0E5B4FA832CA}" type="presParOf" srcId="{673361DC-744E-478C-9D75-547F043F89BA}" destId="{3836649C-DE4E-4E10-BB8C-31708625188D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43591C-BDA6-4704-B5F4-5C95B8A5D44C}">
      <dsp:nvSpPr>
        <dsp:cNvPr id="0" name=""/>
        <dsp:cNvSpPr/>
      </dsp:nvSpPr>
      <dsp:spPr>
        <a:xfrm>
          <a:off x="2899779" y="686484"/>
          <a:ext cx="53046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0464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50985" y="729398"/>
        <a:ext cx="28053" cy="5610"/>
      </dsp:txXfrm>
    </dsp:sp>
    <dsp:sp modelId="{20CE290A-6A5E-4A00-BC20-D76BF83103B2}">
      <dsp:nvSpPr>
        <dsp:cNvPr id="0" name=""/>
        <dsp:cNvSpPr/>
      </dsp:nvSpPr>
      <dsp:spPr>
        <a:xfrm>
          <a:off x="462167" y="380"/>
          <a:ext cx="2439412" cy="146364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Development: R130 000 – R300 000</a:t>
          </a:r>
        </a:p>
      </dsp:txBody>
      <dsp:txXfrm>
        <a:off x="462167" y="380"/>
        <a:ext cx="2439412" cy="1463647"/>
      </dsp:txXfrm>
    </dsp:sp>
    <dsp:sp modelId="{E1CCF44E-F70A-42C4-81E9-B97714D8C45A}">
      <dsp:nvSpPr>
        <dsp:cNvPr id="0" name=""/>
        <dsp:cNvSpPr/>
      </dsp:nvSpPr>
      <dsp:spPr>
        <a:xfrm>
          <a:off x="1681873" y="1462227"/>
          <a:ext cx="3000476" cy="530464"/>
        </a:xfrm>
        <a:custGeom>
          <a:avLst/>
          <a:gdLst/>
          <a:ahLst/>
          <a:cxnLst/>
          <a:rect l="0" t="0" r="0" b="0"/>
          <a:pathLst>
            <a:path>
              <a:moveTo>
                <a:pt x="3000476" y="0"/>
              </a:moveTo>
              <a:lnTo>
                <a:pt x="3000476" y="282332"/>
              </a:lnTo>
              <a:lnTo>
                <a:pt x="0" y="282332"/>
              </a:lnTo>
              <a:lnTo>
                <a:pt x="0" y="530464"/>
              </a:lnTo>
            </a:path>
          </a:pathLst>
        </a:custGeom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05799" y="1724654"/>
        <a:ext cx="152624" cy="5610"/>
      </dsp:txXfrm>
    </dsp:sp>
    <dsp:sp modelId="{509DC0CF-BD84-4A27-8345-FA7280E434D6}">
      <dsp:nvSpPr>
        <dsp:cNvPr id="0" name=""/>
        <dsp:cNvSpPr/>
      </dsp:nvSpPr>
      <dsp:spPr>
        <a:xfrm>
          <a:off x="3462644" y="380"/>
          <a:ext cx="2439412" cy="1463647"/>
        </a:xfrm>
        <a:prstGeom prst="rect">
          <a:avLst/>
        </a:prstGeom>
        <a:solidFill>
          <a:schemeClr val="accent2">
            <a:hueOff val="1610903"/>
            <a:satOff val="-4623"/>
            <a:lumOff val="-740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Hosting on Azure: R5 000/Month</a:t>
          </a:r>
        </a:p>
      </dsp:txBody>
      <dsp:txXfrm>
        <a:off x="3462644" y="380"/>
        <a:ext cx="2439412" cy="1463647"/>
      </dsp:txXfrm>
    </dsp:sp>
    <dsp:sp modelId="{B4792BA0-BCB9-4F89-806E-8CFD93DACF4A}">
      <dsp:nvSpPr>
        <dsp:cNvPr id="0" name=""/>
        <dsp:cNvSpPr/>
      </dsp:nvSpPr>
      <dsp:spPr>
        <a:xfrm>
          <a:off x="2899779" y="2711196"/>
          <a:ext cx="53046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0464" y="45720"/>
              </a:lnTo>
            </a:path>
          </a:pathLst>
        </a:custGeom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50985" y="2754110"/>
        <a:ext cx="28053" cy="5610"/>
      </dsp:txXfrm>
    </dsp:sp>
    <dsp:sp modelId="{180F348B-F151-4505-80EE-A09FA294A807}">
      <dsp:nvSpPr>
        <dsp:cNvPr id="0" name=""/>
        <dsp:cNvSpPr/>
      </dsp:nvSpPr>
      <dsp:spPr>
        <a:xfrm>
          <a:off x="462167" y="2025092"/>
          <a:ext cx="2439412" cy="1463647"/>
        </a:xfrm>
        <a:prstGeom prst="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Marketing via Google Ads: R7 000/Month</a:t>
          </a:r>
        </a:p>
      </dsp:txBody>
      <dsp:txXfrm>
        <a:off x="462167" y="2025092"/>
        <a:ext cx="2439412" cy="1463647"/>
      </dsp:txXfrm>
    </dsp:sp>
    <dsp:sp modelId="{8C043D38-3CC8-4089-97E4-1E4FEDEAC1F1}">
      <dsp:nvSpPr>
        <dsp:cNvPr id="0" name=""/>
        <dsp:cNvSpPr/>
      </dsp:nvSpPr>
      <dsp:spPr>
        <a:xfrm>
          <a:off x="1681873" y="3486939"/>
          <a:ext cx="3000476" cy="530464"/>
        </a:xfrm>
        <a:custGeom>
          <a:avLst/>
          <a:gdLst/>
          <a:ahLst/>
          <a:cxnLst/>
          <a:rect l="0" t="0" r="0" b="0"/>
          <a:pathLst>
            <a:path>
              <a:moveTo>
                <a:pt x="3000476" y="0"/>
              </a:moveTo>
              <a:lnTo>
                <a:pt x="3000476" y="282332"/>
              </a:lnTo>
              <a:lnTo>
                <a:pt x="0" y="282332"/>
              </a:lnTo>
              <a:lnTo>
                <a:pt x="0" y="530464"/>
              </a:lnTo>
            </a:path>
          </a:pathLst>
        </a:cu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105799" y="3749366"/>
        <a:ext cx="152624" cy="5610"/>
      </dsp:txXfrm>
    </dsp:sp>
    <dsp:sp modelId="{18F524B0-96C6-4D9B-936B-A179726B3124}">
      <dsp:nvSpPr>
        <dsp:cNvPr id="0" name=""/>
        <dsp:cNvSpPr/>
      </dsp:nvSpPr>
      <dsp:spPr>
        <a:xfrm>
          <a:off x="3462644" y="2025092"/>
          <a:ext cx="2439412" cy="1463647"/>
        </a:xfrm>
        <a:prstGeom prst="rect">
          <a:avLst/>
        </a:prstGeom>
        <a:solidFill>
          <a:schemeClr val="accent2">
            <a:hueOff val="4832710"/>
            <a:satOff val="-13870"/>
            <a:lumOff val="-2220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Transactions: R1 per transaction</a:t>
          </a:r>
        </a:p>
      </dsp:txBody>
      <dsp:txXfrm>
        <a:off x="3462644" y="2025092"/>
        <a:ext cx="2439412" cy="1463647"/>
      </dsp:txXfrm>
    </dsp:sp>
    <dsp:sp modelId="{3836649C-DE4E-4E10-BB8C-31708625188D}">
      <dsp:nvSpPr>
        <dsp:cNvPr id="0" name=""/>
        <dsp:cNvSpPr/>
      </dsp:nvSpPr>
      <dsp:spPr>
        <a:xfrm>
          <a:off x="462167" y="4049804"/>
          <a:ext cx="2439412" cy="1463647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9533" tIns="125471" rIns="119533" bIns="125471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Developer Support Plan: R4 000/Month</a:t>
          </a:r>
        </a:p>
      </dsp:txBody>
      <dsp:txXfrm>
        <a:off x="462167" y="4049804"/>
        <a:ext cx="2439412" cy="14636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5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61D03-0F50-BB7B-447A-CB5CA44D6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652253-5615-C214-4EA1-C0EB45F01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C6B47-04D3-E6A2-A290-F2FA5D541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429AB-A828-04DD-ED92-DD9B91ECA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A3BA76-F03E-D892-F0F7-14D867521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97508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D2702-DD85-8E8E-941C-B6603C1A1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247C2-CAC5-2C52-6FDD-8A34D4900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B661B-7486-2D59-9FB6-67BEF073A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B98B7-7C8B-4CBD-905D-FB099DBF8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6B787-9F89-B122-4545-780ABCBEC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08152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0D17-ED31-A29C-1A8B-A5C9F870C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71B677-ACE6-4F6D-0F90-10021FB6EF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7D7EE-DFA7-BB2F-E983-2D3E4B4C9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0C64E-7642-C0E7-CED1-CDB9A73E5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3C3B9-EAF7-A822-7C7B-55F7ABD3F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28741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79E8E-058F-74A9-7D7D-7168CD169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BF0BD-25B5-85E0-C0D3-0D19B4BDC1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2B0D4A-B05E-5DD2-F3C0-AAEE58F957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ACD4B6-72BB-4879-9C4A-FC71AC44B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12A903-186C-A7D1-6A34-46D956742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C6FDF5-3B6B-7204-4F98-3C5AD9CDD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403234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FC7F6-4128-036D-99E9-CA0A7B406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7C8F67-EF3F-E5EA-EF37-CA0B884C0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76C254-8BEC-7DEF-CCF4-6B46CB5AF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76C71E-285F-32FE-EEC2-6F49F3CF20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FDF0A2-3948-5D1D-AC30-E80E5BB6AB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A77B8-E97C-A7D8-EC6A-81D7D5D72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99E4FC-1DCF-5A0C-5677-F6B9DE4C2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FF0DC0-0DE4-02D8-F797-993943217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699809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75BFF-385C-8524-1D04-97090E118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AD01DB-FAB9-1B98-8DF9-44B679499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2E64D5-1E2E-B005-9BE9-D1A76242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FB7434-B502-EB05-0419-5BB97D51C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50179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B6A690-44A5-879E-80F8-8D458B6C7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A1FEBC-CA5D-88C5-1C18-41A58EAE5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7A18A-FC23-5F58-E8B2-BB1C70B36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32124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747F-6BAC-B5BC-81CF-BF3FEB302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D9E3B-B239-8C05-01B2-12E0D654F2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03E2A2-2746-4870-1712-D0ADA29EA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54FBE-15F5-1666-9B91-3C3F601B9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761323-B9FE-D93B-34F7-4E045A353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C25800-3EBF-5366-BDAE-C9526D25E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29765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1F78D-ADE3-255F-8D3F-9DE07BDD3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8C58DF-762A-196C-8DCA-0A0C86CF1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7098D0-9407-0F1E-A629-2984D2A3C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4E3FE1-8AB5-9C8C-AFBE-9D58F5E57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10D26F-49BC-CF59-53DF-5DE4AF8CA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705197-E2BC-31FF-CD9F-4DD637CFE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606740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B815-285D-040A-A251-379E0EDDF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5C7A71-9F4F-6E89-ADB6-B280FE0587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B1DBB3-82B4-AEF5-70F9-B15E8165B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8EFC2-54A1-4A9E-6EC1-35DD68337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E6B95-9F0A-FAF2-5921-A84B7C092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801933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9560D7-568F-8F75-AE76-22D3280777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643F3F-1A35-A6B5-F739-F07EE27812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A395E-20BD-CA38-53AD-D9E72153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7E873-F506-BD95-4065-389A4446A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F4063-EFB0-8175-95C3-A44D3F402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3771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6151C4-DD93-AA7C-6E4B-09E013BC8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37B8D1-678C-6F3A-DE05-D5DE1E15A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5EC9E-E5D5-90D1-F121-C023CF054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1FE857-A564-42C3-ABD1-0ADCE29D43E8}" type="datetimeFigureOut">
              <a:rPr lang="en-ZA" smtClean="0"/>
              <a:t>2026/09/05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D2EE8-393A-4370-18B8-077306C4E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F70D2-3077-33EE-7A31-D095A2336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A35793-ACF1-4C9F-BE82-8D8F157CEFD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2265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43017B7-DB56-477D-A4AE-8EC1B3C99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AAA2BF-27E5-7AAB-AEE3-57DC1D7BBF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31384" y="679730"/>
            <a:ext cx="4171994" cy="3932729"/>
          </a:xfrm>
        </p:spPr>
        <p:txBody>
          <a:bodyPr>
            <a:normAutofit/>
          </a:bodyPr>
          <a:lstStyle/>
          <a:p>
            <a:pPr algn="l"/>
            <a:r>
              <a:rPr lang="en-US"/>
              <a:t>Ukhona Pay</a:t>
            </a:r>
            <a:endParaRPr lang="en-Z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2218698" y="2733627"/>
            <a:ext cx="1340409" cy="5777807"/>
            <a:chOff x="329184" y="2"/>
            <a:chExt cx="524256" cy="57778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2"/>
              <a:ext cx="524256" cy="566677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64995E6B-3D63-7C56-DEEE-A86679FD7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31383" y="5227455"/>
            <a:ext cx="3876085" cy="857461"/>
          </a:xfrm>
        </p:spPr>
        <p:txBody>
          <a:bodyPr>
            <a:normAutofit/>
          </a:bodyPr>
          <a:lstStyle/>
          <a:p>
            <a:pPr algn="l"/>
            <a:r>
              <a:rPr lang="en-US"/>
              <a:t>By Team UMP</a:t>
            </a:r>
            <a:endParaRPr lang="en-Z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23" y="372533"/>
            <a:ext cx="6116779" cy="606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B832DB-D0C9-B5DB-8BFB-E71E4D1822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7" r="-2" b="-2"/>
          <a:stretch>
            <a:fillRect/>
          </a:stretch>
        </p:blipFill>
        <p:spPr>
          <a:xfrm>
            <a:off x="942597" y="612553"/>
            <a:ext cx="5608830" cy="563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4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3AB2BF-10E2-7730-E366-3E9E270FD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Introduction</a:t>
            </a:r>
            <a:endParaRPr lang="en-ZA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BAFFF40-6F98-9DCD-08DB-BDCE93643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Traditional finance was built around physical infrastructure like banks and paper records.</a:t>
            </a:r>
          </a:p>
          <a:p>
            <a:r>
              <a:rPr lang="en-US" dirty="0"/>
              <a:t>This model works well for established businesses but not for small SMEs.</a:t>
            </a:r>
          </a:p>
          <a:p>
            <a:r>
              <a:rPr lang="en-US" dirty="0"/>
              <a:t>Fintech closes this gap by replacing physical infrastructure with software.</a:t>
            </a:r>
          </a:p>
          <a:p>
            <a:r>
              <a:rPr lang="en-US" dirty="0"/>
              <a:t>Fintech provides tools that make modern financial participation possible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7368307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DE610A-43A8-9159-62F0-2EC7D480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Problem Statement</a:t>
            </a:r>
            <a:endParaRPr lang="en-ZA">
              <a:solidFill>
                <a:srgbClr val="FFFFFF"/>
              </a:solidFill>
            </a:endParaRP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8BF11-DE2E-B0AB-3D0D-79AADC41F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sz="1500" dirty="0"/>
              <a:t>Digital Inclusion – From cash trader to digital business</a:t>
            </a:r>
          </a:p>
          <a:p>
            <a:r>
              <a:rPr lang="en-US" sz="1500" dirty="0"/>
              <a:t>Vendors sell goods. Taxi drivers move passengers every day. Generates real and consistent income.</a:t>
            </a:r>
          </a:p>
          <a:p>
            <a:r>
              <a:rPr lang="en-US" sz="1500" dirty="0"/>
              <a:t>No bank statements, no credit history, and no digital footprint.</a:t>
            </a:r>
          </a:p>
          <a:p>
            <a:r>
              <a:rPr lang="en-US" sz="1500" dirty="0"/>
              <a:t>Unable to access loans to expand their businesses.</a:t>
            </a:r>
          </a:p>
          <a:p>
            <a:r>
              <a:rPr lang="en-US" sz="1500" dirty="0" err="1"/>
              <a:t>UkhonaPay</a:t>
            </a:r>
            <a:r>
              <a:rPr lang="en-US" sz="1500" dirty="0"/>
              <a:t> closes this gap by rebuilding financial infrastructure around how traditional finance works, specifically for taxi drivers and vendors who need to qualify for loans and insurance.</a:t>
            </a:r>
          </a:p>
          <a:p>
            <a:endParaRPr lang="en-ZA" sz="1500" dirty="0"/>
          </a:p>
        </p:txBody>
      </p:sp>
    </p:spTree>
    <p:extLst>
      <p:ext uri="{BB962C8B-B14F-4D97-AF65-F5344CB8AC3E}">
        <p14:creationId xmlns:p14="http://schemas.microsoft.com/office/powerpoint/2010/main" val="36228791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14E35E-A871-80EE-5E9F-D64B69D1C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Revenue</a:t>
            </a:r>
            <a:endParaRPr lang="en-ZA" dirty="0">
              <a:solidFill>
                <a:srgbClr val="FFFFFF"/>
              </a:solidFill>
            </a:endParaRPr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D42D0-F8B5-3AFE-64D5-3FCAEA85D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Taxi Association Admins, Vendors, and Taxi Drivers will all be charged an extra R1 on each and every transaction.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281763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Freeform: Shape 22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" name="Freeform: Shape 19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936C64-0C91-0ED3-B4A3-C6F5EA7D0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Cost</a:t>
            </a:r>
            <a:endParaRPr lang="en-ZA" sz="4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629972-A42E-C318-1C44-85C07306BF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2787053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2476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92FEB64-6EEA-4759-B4A4-BD2C1E66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7393" y="847600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BA0471-B814-34DA-78F6-6F21B28B8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278" y="1233241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Conclusion</a:t>
            </a:r>
            <a:endParaRPr lang="en-ZA">
              <a:solidFill>
                <a:srgbClr val="FFFFFF"/>
              </a:solidFill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4847E93-7DC1-4D4B-8829-B19AA713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0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66D6E1-03A1-4D73-A4E0-35D74D568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961511" y="-1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835A99-04AC-494A-A572-AFE8413CC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36831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4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C979D-F51B-8DB9-1821-626F5AFA4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820880"/>
            <a:ext cx="5257799" cy="488935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ZA" dirty="0"/>
          </a:p>
          <a:p>
            <a:pPr marL="0" indent="0">
              <a:buNone/>
            </a:pPr>
            <a:endParaRPr lang="en-ZA" dirty="0"/>
          </a:p>
          <a:p>
            <a:pPr marL="0" indent="0">
              <a:buNone/>
            </a:pPr>
            <a:endParaRPr lang="en-ZA" dirty="0"/>
          </a:p>
          <a:p>
            <a:pPr marL="0" indent="0">
              <a:buNone/>
            </a:pPr>
            <a:r>
              <a:rPr lang="en-ZA" dirty="0"/>
              <a:t>https://ukhona-pay.vercel.app/login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B786209-1B0B-4CA9-9BDD-F7327066A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2964BB-484D-45AE-AD66-D407D0629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05056" y="5717905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691AC69-A76E-4DAB-B565-468B6B87A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32972" y="6258755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725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202</Words>
  <Application>Microsoft Office PowerPoint</Application>
  <PresentationFormat>Widescreen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Ukhona Pay</vt:lpstr>
      <vt:lpstr>Introduction</vt:lpstr>
      <vt:lpstr>Problem Statement</vt:lpstr>
      <vt:lpstr>Revenue</vt:lpstr>
      <vt:lpstr>Cost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Vuyo Nkosi</dc:creator>
  <cp:lastModifiedBy>Vuyo Nkosi</cp:lastModifiedBy>
  <cp:revision>1</cp:revision>
  <dcterms:created xsi:type="dcterms:W3CDTF">2026-09-05T14:34:08Z</dcterms:created>
  <dcterms:modified xsi:type="dcterms:W3CDTF">2026-09-05T20:08:09Z</dcterms:modified>
</cp:coreProperties>
</file>