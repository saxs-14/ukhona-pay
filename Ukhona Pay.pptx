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6" r:id="rId8"/>
    <p:sldId id="265" r:id="rId9"/>
    <p:sldId id="260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66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1D03-0F50-BB7B-447A-CB5CA44D6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52253-5615-C214-4EA1-C0EB45F01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C6B47-04D3-E6A2-A290-F2FA5D54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429AB-A828-04DD-ED92-DD9B91EC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3BA76-F03E-D892-F0F7-14D86752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7508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D2702-DD85-8E8E-941C-B6603C1A1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247C2-CAC5-2C52-6FDD-8A34D4900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B661B-7486-2D59-9FB6-67BEF073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B98B7-7C8B-4CBD-905D-FB099DBF8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6B787-9F89-B122-4545-780ABCBE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815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0D17-ED31-A29C-1A8B-A5C9F870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1B677-ACE6-4F6D-0F90-10021FB6E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7D7EE-DFA7-BB2F-E983-2D3E4B4C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0C64E-7642-C0E7-CED1-CDB9A73E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3C3B9-EAF7-A822-7C7B-55F7ABD3F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8741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9E8E-058F-74A9-7D7D-7168CD169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BF0BD-25B5-85E0-C0D3-0D19B4BDC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B0D4A-B05E-5DD2-F3C0-AAEE58F95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CD4B6-72BB-4879-9C4A-FC71AC44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2A903-186C-A7D1-6A34-46D95674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6FDF5-3B6B-7204-4F98-3C5AD9CD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0323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C7F6-4128-036D-99E9-CA0A7B406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C8F67-EF3F-E5EA-EF37-CA0B884C0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6C254-8BEC-7DEF-CCF4-6B46CB5AF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6C71E-285F-32FE-EEC2-6F49F3CF2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DF0A2-3948-5D1D-AC30-E80E5BB6A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A77B8-E97C-A7D8-EC6A-81D7D5D7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9E4FC-1DCF-5A0C-5677-F6B9DE4C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F0DC0-0DE4-02D8-F797-99394321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980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75BFF-385C-8524-1D04-97090E11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D01DB-FAB9-1B98-8DF9-44B67949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E64D5-1E2E-B005-9BE9-D1A76242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B7434-B502-EB05-0419-5BB97D51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017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6A690-44A5-879E-80F8-8D458B6C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1FEBC-CA5D-88C5-1C18-41A58EAE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7A18A-FC23-5F58-E8B2-BB1C70B3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2124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747F-6BAC-B5BC-81CF-BF3FEB30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D9E3B-B239-8C05-01B2-12E0D654F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3E2A2-2746-4870-1712-D0ADA29EA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54FBE-15F5-1666-9B91-3C3F601B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61323-B9FE-D93B-34F7-4E045A353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25800-3EBF-5366-BDAE-C9526D25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976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F78D-ADE3-255F-8D3F-9DE07BDD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C58DF-762A-196C-8DCA-0A0C86CF1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098D0-9407-0F1E-A629-2984D2A3C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E3FE1-8AB5-9C8C-AFBE-9D58F5E5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0D26F-49BC-CF59-53DF-5DE4AF8C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05197-E2BC-31FF-CD9F-4DD637CFE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674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B815-285D-040A-A251-379E0EDD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C7A71-9F4F-6E89-ADB6-B280FE058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DBB3-82B4-AEF5-70F9-B15E8165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8EFC2-54A1-4A9E-6EC1-35DD6833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E6B95-9F0A-FAF2-5921-A84B7C09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1933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560D7-568F-8F75-AE76-22D328077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43F3F-1A35-A6B5-F739-F07EE2781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A395E-20BD-CA38-53AD-D9E72153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7E873-F506-BD95-4065-389A4446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F4063-EFB0-8175-95C3-A44D3F40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771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151C4-DD93-AA7C-6E4B-09E013BC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7B8D1-678C-6F3A-DE05-D5DE1E15A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5EC9E-E5D5-90D1-F121-C023CF054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FE857-A564-42C3-ABD1-0ADCE29D43E8}" type="datetimeFigureOut">
              <a:rPr lang="en-ZA" smtClean="0"/>
              <a:t>2026/09/10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D2EE8-393A-4370-18B8-077306C4E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F70D2-3077-33EE-7A31-D095A2336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35793-ACF1-4C9F-BE82-8D8F157CEFD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26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347D6575-0B06-40B2-9D0F-298202F6B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AA2BF-27E5-7AAB-AEE3-57DC1D7BB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2818" y="1370171"/>
            <a:ext cx="5085580" cy="2387600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chemeClr val="bg1"/>
                </a:solidFill>
              </a:rPr>
              <a:t>Ukhona</a:t>
            </a:r>
            <a:r>
              <a:rPr lang="en-US" dirty="0">
                <a:solidFill>
                  <a:schemeClr val="bg1"/>
                </a:solidFill>
              </a:rPr>
              <a:t> Pay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995E6B-3D63-7C56-DEEE-A86679FD7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818" y="3849845"/>
            <a:ext cx="5085580" cy="1881751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By Team UMP</a:t>
            </a:r>
            <a:endParaRPr lang="en-ZA">
              <a:solidFill>
                <a:schemeClr val="bg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9802" y="832686"/>
            <a:ext cx="1104943" cy="107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832DB-D0C9-B5DB-8BFB-E71E4D182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"/>
          <a:stretch>
            <a:fillRect/>
          </a:stretch>
        </p:blipFill>
        <p:spPr>
          <a:xfrm>
            <a:off x="6520859" y="795510"/>
            <a:ext cx="5137520" cy="5137520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DA5DB8B-7E5C-4ABC-8069-A9A8806F3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82154" y="4925384"/>
            <a:ext cx="876704" cy="876704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AB2BF-10E2-7730-E366-3E9E270F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Problem Statement</a:t>
            </a: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BAFFF40-6F98-9DCD-08DB-BDCE93643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400"/>
              <a:t>Digital Inclusion – From cash trader to digital business</a:t>
            </a:r>
          </a:p>
          <a:p>
            <a:r>
              <a:rPr sz="2400"/>
              <a:t>Vendors sell goods. Taxi drivers move passengers every day. Generates real and consistent income.</a:t>
            </a:r>
          </a:p>
          <a:p>
            <a:r>
              <a:rPr sz="2400"/>
              <a:t>No bank statements, no credit history, and no digital footprint.</a:t>
            </a:r>
          </a:p>
          <a:p>
            <a:r>
              <a:rPr sz="2400"/>
              <a:t>Unable to access loans to expand their businesses.</a:t>
            </a:r>
          </a:p>
        </p:txBody>
      </p:sp>
    </p:spTree>
    <p:extLst>
      <p:ext uri="{BB962C8B-B14F-4D97-AF65-F5344CB8AC3E}">
        <p14:creationId xmlns:p14="http://schemas.microsoft.com/office/powerpoint/2010/main" val="373683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E610A-43A8-9159-62F0-2EC7D480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Solution</a:t>
            </a:r>
            <a:endParaRPr lang="en-ZA">
              <a:solidFill>
                <a:srgbClr val="FFFFFF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8BF11-DE2E-B0AB-3D0D-79AADC41F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400"/>
              <a:t>Ukhona Pay turns every fare and every sale into a simple QR-code payment — no cash, no paperwork.</a:t>
            </a:r>
          </a:p>
          <a:p>
            <a:r>
              <a:rPr sz="2400"/>
              <a:t>Each transaction is recorded automatically into an immutable digital ledger the moment it happens.</a:t>
            </a:r>
          </a:p>
          <a:p>
            <a:r>
              <a:rPr sz="2400"/>
              <a:t>After 90 days of consistent activity, that ledger becomes a Financial Identity Score banks can actually assess.</a:t>
            </a:r>
          </a:p>
          <a:p>
            <a:r>
              <a:rPr sz="2400"/>
              <a:t>Taxi associations approve drivers and collect membership dues digitally, keeping the whole rank connected on one platform.</a:t>
            </a:r>
          </a:p>
        </p:txBody>
      </p:sp>
    </p:spTree>
    <p:extLst>
      <p:ext uri="{BB962C8B-B14F-4D97-AF65-F5344CB8AC3E}">
        <p14:creationId xmlns:p14="http://schemas.microsoft.com/office/powerpoint/2010/main" val="362287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4E35E-A871-80EE-5E9F-D64B69D1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Features</a:t>
            </a: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D42D0-F8B5-3AFE-64D5-3FCAEA85D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400"/>
              <a:t>Phone + PIN sign-in, with dedicated dashboards for drivers, vendors, and taxi associations.</a:t>
            </a:r>
            <a:endParaRPr lang="en-ZA" dirty="0"/>
          </a:p>
          <a:p>
            <a:r>
              <a:rPr sz="2400"/>
              <a:t>QR-code payments — scan, confirm with a PIN, and settle instantly.</a:t>
            </a:r>
          </a:p>
          <a:p>
            <a:r>
              <a:rPr sz="2400"/>
              <a:t>Automatic savings: 5% of every fare set aside for savings, 5% for vehicle maintenance.</a:t>
            </a:r>
          </a:p>
          <a:p>
            <a:r>
              <a:rPr sz="2400"/>
              <a:t>Bank payouts, CashSend, and a full immutable transaction history for every account.</a:t>
            </a:r>
          </a:p>
          <a:p>
            <a:r>
              <a:rPr sz="2400"/>
              <a:t>A 90-day Financial Identity Score with a recommended credit limit, plus per-role analytics dashboards.</a:t>
            </a:r>
          </a:p>
        </p:txBody>
      </p:sp>
    </p:spTree>
    <p:extLst>
      <p:ext uri="{BB962C8B-B14F-4D97-AF65-F5344CB8AC3E}">
        <p14:creationId xmlns:p14="http://schemas.microsoft.com/office/powerpoint/2010/main" val="12817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0E0D3-1207-F708-0607-043A1D39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E0D10CB-C13A-61F5-B849-2BE23B55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E56F409-C656-EF0F-7401-0885D82E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2054F-4CDC-D474-D826-4976021D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Impact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38C1247D-1760-AE3F-D839-A872E9470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BAFFF40-6F98-9DCD-08DB-BDCE93643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400"/>
              <a:t>One taxi rank moves roughly R100,000 in cash every single day — none of it currently recorded.</a:t>
            </a:r>
          </a:p>
          <a:p>
            <a:r>
              <a:rPr sz="2400"/>
              <a:t>That's close to R2.7 million a year, per rank, completely invisible to any bank.</a:t>
            </a:r>
          </a:p>
          <a:p>
            <a:r>
              <a:rPr sz="2400"/>
              <a:t>Example: 2,520 recorded transactions in 90 days, R12,600 in verified income, a Financial Score of 72/100 — eligible for a R15,000–R20,000 loan.</a:t>
            </a:r>
          </a:p>
          <a:p>
            <a:r>
              <a:rPr sz="2400"/>
              <a:t>Mbombela alone has 20+ major taxi ranks. The model scales directly to every one of them, and beyond.</a:t>
            </a:r>
          </a:p>
        </p:txBody>
      </p:sp>
    </p:spTree>
    <p:extLst>
      <p:ext uri="{BB962C8B-B14F-4D97-AF65-F5344CB8AC3E}">
        <p14:creationId xmlns:p14="http://schemas.microsoft.com/office/powerpoint/2010/main" val="305477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41E572-265B-18BA-E2E0-E30B4667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2CD834E-D10D-E189-A2D4-EC2DB820A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1A91D58-0422-7C71-AB5C-433E65E8F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1DB7E-6BAC-BF4D-9C32-A5FFB11D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>
                <a:solidFill>
                  <a:srgbClr val="FFFFFF"/>
                </a:solidFill>
              </a:rPr>
              <a:t>Driver Experience</a:t>
            </a:r>
            <a:endParaRPr lang="en-ZA" dirty="0">
              <a:solidFill>
                <a:srgbClr val="FFFFFF"/>
              </a:solidFill>
            </a:endParaRPr>
          </a:p>
          <a:p>
            <a:r>
              <a:rPr sz="1400">
                <a:solidFill>
                  <a:srgbClr val="FFFFFF"/>
                </a:solidFill>
              </a:rPr>
              <a:t>Every fare Lucky drives is scanned, confirmed, and settled instantly.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E722469-475C-8780-54F5-FD356E08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ukhona-pay-demo-final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51058" y="181155"/>
            <a:ext cx="6225576" cy="635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7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000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2B635-C540-7A11-F23D-AD930AEA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14266F1-5A29-15B1-651D-C32E49978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A8A2CD-6A0E-FB2B-409E-9B95446A3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32EEC-82CA-1C91-2BAD-8CBEEE78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>
                <a:solidFill>
                  <a:srgbClr val="FFFFFF"/>
                </a:solidFill>
              </a:rPr>
              <a:t>Vendor Experience</a:t>
            </a:r>
            <a:endParaRPr lang="en-ZA" dirty="0">
              <a:solidFill>
                <a:srgbClr val="FFFFFF"/>
              </a:solidFill>
            </a:endParaRPr>
          </a:p>
          <a:p>
            <a:r>
              <a:rPr sz="1400">
                <a:solidFill>
                  <a:srgbClr val="FFFFFF"/>
                </a:solidFill>
              </a:rPr>
              <a:t>One QR code turns any sale at Thandi's stall into a recorded, cashless payment.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023ED24-A957-DBAC-F7DC-E18FB3EF5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 descr="03-ven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346" y="594360"/>
            <a:ext cx="3052996" cy="558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3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5F5C6-1275-A041-1A24-71575429E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5CBA572-F314-336B-5144-764A90B5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9E0C96-F592-8538-9D04-DFC3FF11C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A89A3-23E0-1BBC-9189-77D935014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>
                <a:solidFill>
                  <a:srgbClr val="FFFFFF"/>
                </a:solidFill>
              </a:rPr>
              <a:t>Association Experience</a:t>
            </a:r>
            <a:endParaRPr lang="en-ZA" dirty="0">
              <a:solidFill>
                <a:srgbClr val="FFFFFF"/>
              </a:solidFill>
            </a:endParaRPr>
          </a:p>
          <a:p>
            <a:r>
              <a:rPr sz="1400">
                <a:solidFill>
                  <a:srgbClr val="FFFFFF"/>
                </a:solidFill>
              </a:rPr>
              <a:t>MALTA approves drivers and collects membership dues digitally, in real time.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107E1993-7929-0CCD-DFF0-D4669EE6F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 descr="04-assoc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346" y="594360"/>
            <a:ext cx="3052996" cy="558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4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A0471-B814-34DA-78F6-6F21B28B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Technical Architecture</a:t>
            </a:r>
            <a:endParaRPr lang="en-ZA">
              <a:solidFill>
                <a:srgbClr val="FFFFFF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C979D-F51B-8DB9-1821-626F5AFA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400"/>
              <a:t>Backend: Spring Boot 3.3 (Java 21), JWT authentication, bcrypt-hashed PINs, pessimistic locking on every wallet transaction.</a:t>
            </a:r>
            <a:endParaRPr lang="en-US" dirty="0"/>
          </a:p>
          <a:p>
            <a:r>
              <a:rPr sz="2400"/>
              <a:t>Frontend: React 19 + Vite + Tailwind CSS, deployed on Vercel.</a:t>
            </a:r>
          </a:p>
          <a:p>
            <a:r>
              <a:rPr sz="2400"/>
              <a:t>Database: PostgreSQL 16 on Neon, using a pooled connection since Cloud Run can run several instances at once.</a:t>
            </a:r>
          </a:p>
          <a:p>
            <a:r>
              <a:rPr sz="2400"/>
              <a:t>Backend hosted on Google Cloud Run, auto-deployed straight from GitHub on every push via GitHub Actions CI/CD.</a:t>
            </a:r>
          </a:p>
        </p:txBody>
      </p:sp>
    </p:spTree>
    <p:extLst>
      <p:ext uri="{BB962C8B-B14F-4D97-AF65-F5344CB8AC3E}">
        <p14:creationId xmlns:p14="http://schemas.microsoft.com/office/powerpoint/2010/main" val="34387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A0471-B814-34DA-78F6-6F21B28B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</a:t>
            </a:r>
            <a:endParaRPr lang="en-ZA">
              <a:solidFill>
                <a:srgbClr val="FFFFFF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C979D-F51B-8DB9-1821-626F5AFA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400"/>
              <a:t>Live demo: https://ukhona-pay.vercel.app/</a:t>
            </a:r>
            <a:endParaRPr lang="en-US" dirty="0"/>
          </a:p>
          <a:p>
            <a:r>
              <a:rPr sz="2400"/>
              <a:t>Code (public repo): https://github.com/saxs-14/ukhona-pay</a:t>
            </a:r>
          </a:p>
          <a:p>
            <a:r>
              <a:rPr sz="2400"/>
              <a:t>One rank today. 100+ taxi ranks across South Africa tomorrow.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86800" y="2651760"/>
            <a:ext cx="32004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22222"/>
                </a:solidFill>
              </a:rPr>
              <a:t>Thank you.</a:t>
            </a:r>
          </a:p>
          <a:p>
            <a:pPr algn="l">
              <a:spcBef>
                <a:spcPts val="1000"/>
              </a:spcBef>
            </a:pPr>
            <a:r>
              <a:rPr sz="1600">
                <a:solidFill>
                  <a:srgbClr val="555555"/>
                </a:solidFill>
              </a:rPr>
              <a:t>We would be glad to take your questions.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476</Words>
  <Application>Microsoft Office PowerPoint</Application>
  <PresentationFormat>Widescreen</PresentationFormat>
  <Paragraphs>40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Ukhona Pay</vt:lpstr>
      <vt:lpstr>Problem Statement</vt:lpstr>
      <vt:lpstr>Solution</vt:lpstr>
      <vt:lpstr>Features</vt:lpstr>
      <vt:lpstr>Impact</vt:lpstr>
      <vt:lpstr>Driver Experience Every fare Lucky drives is scanned, confirmed, and settled instantly.</vt:lpstr>
      <vt:lpstr>Vendor Experience One QR code turns any sale at Thandi's stall into a recorded, cashless payment.</vt:lpstr>
      <vt:lpstr>Association Experience MALTA approves drivers and collects membership dues digitally, in real time.</vt:lpstr>
      <vt:lpstr>Technical Architecture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Vuyo Nkosi</dc:creator>
  <cp:lastModifiedBy>Phathutshedzo Mamagau</cp:lastModifiedBy>
  <cp:revision>11</cp:revision>
  <dcterms:created xsi:type="dcterms:W3CDTF">2026-09-05T14:34:08Z</dcterms:created>
  <dcterms:modified xsi:type="dcterms:W3CDTF">2026-09-10T08:54:07Z</dcterms:modified>
</cp:coreProperties>
</file>